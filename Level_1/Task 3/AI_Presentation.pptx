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640080"/>
            <a:ext cx="1188720" cy="411480"/>
          </a:xfrm>
          <a:prstGeom prst="line">
            <a:avLst/>
          </a:prstGeom>
          <a:noFill/>
          <a:ln w="15875">
            <a:solidFill>
              <a:srgbClr val="3A4A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1051560"/>
            <a:ext cx="-640080" cy="548640"/>
          </a:xfrm>
          <a:prstGeom prst="line">
            <a:avLst/>
          </a:prstGeom>
          <a:noFill/>
          <a:ln w="15875">
            <a:solidFill>
              <a:srgbClr val="3A4A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1051560"/>
            <a:ext cx="548640" cy="868680"/>
          </a:xfrm>
          <a:prstGeom prst="line">
            <a:avLst/>
          </a:prstGeom>
          <a:noFill/>
          <a:ln w="15875">
            <a:solidFill>
              <a:srgbClr val="3A4A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0" y="640080"/>
            <a:ext cx="548640" cy="960120"/>
          </a:xfrm>
          <a:prstGeom prst="line">
            <a:avLst/>
          </a:prstGeom>
          <a:noFill/>
          <a:ln w="15875">
            <a:solidFill>
              <a:srgbClr val="3A4A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1600200"/>
            <a:ext cx="1188720" cy="320040"/>
          </a:xfrm>
          <a:prstGeom prst="line">
            <a:avLst/>
          </a:prstGeom>
          <a:noFill/>
          <a:ln w="15875">
            <a:solidFill>
              <a:srgbClr val="3A4A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0" y="640080"/>
            <a:ext cx="640080" cy="-137160"/>
          </a:xfrm>
          <a:prstGeom prst="line">
            <a:avLst/>
          </a:prstGeom>
          <a:noFill/>
          <a:ln w="15875">
            <a:solidFill>
              <a:srgbClr val="3A4A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0" y="502920"/>
            <a:ext cx="548640" cy="548640"/>
          </a:xfrm>
          <a:prstGeom prst="line">
            <a:avLst/>
          </a:prstGeom>
          <a:noFill/>
          <a:ln w="15875">
            <a:solidFill>
              <a:srgbClr val="3A4A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63456" y="585216"/>
            <a:ext cx="109728" cy="109728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10" name="Shape 8"/>
          <p:cNvSpPr/>
          <p:nvPr/>
        </p:nvSpPr>
        <p:spPr>
          <a:xfrm>
            <a:off x="10552176" y="996696"/>
            <a:ext cx="109728" cy="10972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1" name="Shape 9"/>
          <p:cNvSpPr/>
          <p:nvPr/>
        </p:nvSpPr>
        <p:spPr>
          <a:xfrm>
            <a:off x="9912096" y="1545336"/>
            <a:ext cx="109728" cy="109728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00816" y="1865376"/>
            <a:ext cx="109728" cy="10972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03536" y="448056"/>
            <a:ext cx="109728" cy="109728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331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4C7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6974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AI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640080" y="37033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A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Concepts, Tools &amp; Future Scope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40080" y="4617720"/>
            <a:ext cx="1280160" cy="0"/>
          </a:xfrm>
          <a:prstGeom prst="line">
            <a:avLst/>
          </a:prstGeom>
          <a:noFill/>
          <a:ln w="38100">
            <a:solidFill>
              <a:srgbClr val="4C7F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800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A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guide for beginners and builders alike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AI?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 is software that learns patterns from data and makes decisions or predictions on its own — instead of following only rules a programmer wrote in advance.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448056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4C7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short: AI systems improve with experience, not just instructions.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1371600"/>
            <a:ext cx="53035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0" y="1600200"/>
            <a:ext cx="594360" cy="59436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560" dirty="0"/>
          </a:p>
        </p:txBody>
      </p:sp>
      <p:sp>
        <p:nvSpPr>
          <p:cNvPr id="8" name="Text 6"/>
          <p:cNvSpPr/>
          <p:nvPr/>
        </p:nvSpPr>
        <p:spPr>
          <a:xfrm>
            <a:off x="7360920" y="15727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 Software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60920" y="19659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fixed, hand-written rules. Same input always gives the same output.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3566160"/>
            <a:ext cx="5303520" cy="1965960"/>
          </a:xfrm>
          <a:prstGeom prst="roundRect">
            <a:avLst>
              <a:gd name="adj" fmla="val 4651"/>
            </a:avLst>
          </a:prstGeom>
          <a:solidFill>
            <a:srgbClr val="141B2D"/>
          </a:solidFill>
          <a:ln/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0" y="3794760"/>
            <a:ext cx="594360" cy="594360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3794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60" dirty="0"/>
          </a:p>
        </p:txBody>
      </p:sp>
      <p:sp>
        <p:nvSpPr>
          <p:cNvPr id="13" name="Text 11"/>
          <p:cNvSpPr/>
          <p:nvPr/>
        </p:nvSpPr>
        <p:spPr>
          <a:xfrm>
            <a:off x="7360920" y="37673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Software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60920" y="416052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A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patterns from examples and adapts its output as new data arrives.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Concepts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 behind most modern AI systems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548640" cy="548640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1554480" y="21945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that find patterns in data and improve at a task with experience.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224028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DL</a:t>
            </a:r>
            <a:endParaRPr lang="en-US" sz="1440" dirty="0"/>
          </a:p>
        </p:txBody>
      </p:sp>
      <p:sp>
        <p:nvSpPr>
          <p:cNvPr id="12" name="Text 10"/>
          <p:cNvSpPr/>
          <p:nvPr/>
        </p:nvSpPr>
        <p:spPr>
          <a:xfrm>
            <a:off x="7223760" y="21945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Learning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28803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of ML using many-layered networks to handle complex data like images and speech.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NN</a:t>
            </a:r>
            <a:endParaRPr lang="en-US" sz="1440" dirty="0"/>
          </a:p>
        </p:txBody>
      </p:sp>
      <p:sp>
        <p:nvSpPr>
          <p:cNvPr id="17" name="Text 15"/>
          <p:cNvSpPr/>
          <p:nvPr/>
        </p:nvSpPr>
        <p:spPr>
          <a:xfrm>
            <a:off x="1554480" y="44348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51206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of connected "neurons" loosely inspired by the brain, used to learn patterns.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42062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4480560"/>
            <a:ext cx="548640" cy="548640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NLP</a:t>
            </a:r>
            <a:endParaRPr lang="en-US" sz="1440" dirty="0"/>
          </a:p>
        </p:txBody>
      </p:sp>
      <p:sp>
        <p:nvSpPr>
          <p:cNvPr id="22" name="Text 20"/>
          <p:cNvSpPr/>
          <p:nvPr/>
        </p:nvSpPr>
        <p:spPr>
          <a:xfrm>
            <a:off x="7223760" y="44348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Language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51206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that let machines read, understand, and generate human language.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AI Learns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simplified view of the training-to-use pipeline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363828" y="2377440"/>
            <a:ext cx="822960" cy="822960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5" name="Text 3"/>
          <p:cNvSpPr/>
          <p:nvPr/>
        </p:nvSpPr>
        <p:spPr>
          <a:xfrm>
            <a:off x="1363828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60" dirty="0"/>
          </a:p>
        </p:txBody>
      </p:sp>
      <p:sp>
        <p:nvSpPr>
          <p:cNvPr id="6" name="Text 4"/>
          <p:cNvSpPr/>
          <p:nvPr/>
        </p:nvSpPr>
        <p:spPr>
          <a:xfrm>
            <a:off x="586588" y="3337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86588" y="37490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sets of examples are collected and cleaned — text, images, numbers.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18892" y="2788920"/>
            <a:ext cx="393192" cy="0"/>
          </a:xfrm>
          <a:prstGeom prst="line">
            <a:avLst/>
          </a:prstGeom>
          <a:noFill/>
          <a:ln w="25400">
            <a:solidFill>
              <a:srgbClr val="B9C4DD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244188" y="237744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244188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60" dirty="0"/>
          </a:p>
        </p:txBody>
      </p:sp>
      <p:sp>
        <p:nvSpPr>
          <p:cNvPr id="11" name="Text 9"/>
          <p:cNvSpPr/>
          <p:nvPr/>
        </p:nvSpPr>
        <p:spPr>
          <a:xfrm>
            <a:off x="3466948" y="3337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66948" y="37490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repeatedly adjusts itself to reduce errors on that data.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99252" y="2788920"/>
            <a:ext cx="393192" cy="0"/>
          </a:xfrm>
          <a:prstGeom prst="line">
            <a:avLst/>
          </a:prstGeom>
          <a:noFill/>
          <a:ln w="25400">
            <a:solidFill>
              <a:srgbClr val="B9C4DD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124548" y="2377440"/>
            <a:ext cx="822960" cy="822960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15" name="Text 13"/>
          <p:cNvSpPr/>
          <p:nvPr/>
        </p:nvSpPr>
        <p:spPr>
          <a:xfrm>
            <a:off x="7124548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60" dirty="0"/>
          </a:p>
        </p:txBody>
      </p:sp>
      <p:sp>
        <p:nvSpPr>
          <p:cNvPr id="16" name="Text 14"/>
          <p:cNvSpPr/>
          <p:nvPr/>
        </p:nvSpPr>
        <p:spPr>
          <a:xfrm>
            <a:off x="6347308" y="3337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47308" y="37490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trained model stores learned patterns as numerical weights.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779612" y="2788920"/>
            <a:ext cx="393192" cy="0"/>
          </a:xfrm>
          <a:prstGeom prst="line">
            <a:avLst/>
          </a:prstGeom>
          <a:noFill/>
          <a:ln w="25400">
            <a:solidFill>
              <a:srgbClr val="B9C4DD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4908" y="237744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0004908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60" dirty="0"/>
          </a:p>
        </p:txBody>
      </p:sp>
      <p:sp>
        <p:nvSpPr>
          <p:cNvPr id="21" name="Text 19"/>
          <p:cNvSpPr/>
          <p:nvPr/>
        </p:nvSpPr>
        <p:spPr>
          <a:xfrm>
            <a:off x="9227668" y="3337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7668" y="37490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applies what it learned to new, unseen input in real time.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Popular AI Tools Today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snapshot of widely-used tools across categories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548640" cy="548640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1554480" y="21945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Chatbots &amp; Assistants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Claude, Gemini — conversational help with writing, research, and Q&amp;A.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224028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IMG</a:t>
            </a:r>
            <a:endParaRPr lang="en-US" sz="1440" dirty="0"/>
          </a:p>
        </p:txBody>
      </p:sp>
      <p:sp>
        <p:nvSpPr>
          <p:cNvPr id="12" name="Text 10"/>
          <p:cNvSpPr/>
          <p:nvPr/>
        </p:nvSpPr>
        <p:spPr>
          <a:xfrm>
            <a:off x="7223760" y="21945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Generation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28803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Midjourney, DALL-E, Stable Diffusion — turning text prompts into original artwork.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</a:t>
            </a:r>
            <a:endParaRPr lang="en-US" sz="1440" dirty="0"/>
          </a:p>
        </p:txBody>
      </p:sp>
      <p:sp>
        <p:nvSpPr>
          <p:cNvPr id="17" name="Text 15"/>
          <p:cNvSpPr/>
          <p:nvPr/>
        </p:nvSpPr>
        <p:spPr>
          <a:xfrm>
            <a:off x="1554480" y="44348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 Assistants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51206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Copilot, Claude Code — suggesting, writing, and debugging code in real time.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42062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4480560"/>
            <a:ext cx="548640" cy="548640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</a:t>
            </a:r>
            <a:endParaRPr lang="en-US" sz="1440" dirty="0"/>
          </a:p>
        </p:txBody>
      </p:sp>
      <p:sp>
        <p:nvSpPr>
          <p:cNvPr id="22" name="Text 20"/>
          <p:cNvSpPr/>
          <p:nvPr/>
        </p:nvSpPr>
        <p:spPr>
          <a:xfrm>
            <a:off x="7223760" y="44348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Productivity Tools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51206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notes, spreadsheets, and scheduling that summarize and automate busywork.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in Everyday Life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already use AI daily, often without noticing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1234440" y="19385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22860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and understanding results beyond exact keyword matches.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502920" cy="5029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1234440" y="29900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33375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Suggesting shows, songs, and products based on your behavior.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069080"/>
            <a:ext cx="502920" cy="502920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1234440" y="4041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Assistants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43891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speech into action for reminders, calls, and searches.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502920" cy="5029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120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1234440" y="50932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5440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spam, flagging fraud, and routing support tickets.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412480" y="2651760"/>
            <a:ext cx="2194560" cy="2194560"/>
          </a:xfrm>
          <a:prstGeom prst="ellipse">
            <a:avLst/>
          </a:prstGeom>
          <a:ln w="25400">
            <a:solidFill>
              <a:srgbClr val="4C7F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32520" y="2971800"/>
            <a:ext cx="1554480" cy="1554480"/>
          </a:xfrm>
          <a:prstGeom prst="ellipse">
            <a:avLst/>
          </a:prstGeom>
          <a:ln w="25400">
            <a:solidFill>
              <a:srgbClr val="8B5C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52560" y="3291840"/>
            <a:ext cx="914400" cy="914400"/>
          </a:xfrm>
          <a:prstGeom prst="ellipse">
            <a:avLst/>
          </a:prstGeom>
          <a:ln w="25400">
            <a:solidFill>
              <a:srgbClr val="4C7F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89720" y="3429000"/>
            <a:ext cx="640080" cy="640080"/>
          </a:xfrm>
          <a:prstGeom prst="ellipse">
            <a:avLst/>
          </a:prstGeom>
          <a:solidFill>
            <a:srgbClr val="141B2D"/>
          </a:solidFill>
          <a:ln/>
        </p:spPr>
      </p:sp>
      <p:sp>
        <p:nvSpPr>
          <p:cNvPr id="24" name="Text 22"/>
          <p:cNvSpPr/>
          <p:nvPr/>
        </p:nvSpPr>
        <p:spPr>
          <a:xfrm>
            <a:off x="918972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is headed over the next few years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1F2A44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40280"/>
            <a:ext cx="548640" cy="548640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1554480" y="21945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 Agents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A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plans multi-step tasks and uses tools on its own, not just answers questions.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1F2A44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224028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</a:t>
            </a:r>
            <a:endParaRPr lang="en-US" sz="1440" dirty="0"/>
          </a:p>
        </p:txBody>
      </p:sp>
      <p:sp>
        <p:nvSpPr>
          <p:cNvPr id="12" name="Text 10"/>
          <p:cNvSpPr/>
          <p:nvPr/>
        </p:nvSpPr>
        <p:spPr>
          <a:xfrm>
            <a:off x="7223760" y="21945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Multimodal AI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28803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A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systems that fluently combine text, images, audio, and video.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1F2A44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</a:t>
            </a:r>
            <a:endParaRPr lang="en-US" sz="1440" dirty="0"/>
          </a:p>
        </p:txBody>
      </p:sp>
      <p:sp>
        <p:nvSpPr>
          <p:cNvPr id="17" name="Text 15"/>
          <p:cNvSpPr/>
          <p:nvPr/>
        </p:nvSpPr>
        <p:spPr>
          <a:xfrm>
            <a:off x="1554480" y="44348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Personalization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51206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A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that adapt to individual habits, memory, and preferences over time.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42062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1F2A44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4480560"/>
            <a:ext cx="548640" cy="548640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</a:t>
            </a:r>
            <a:endParaRPr lang="en-US" sz="1440" dirty="0"/>
          </a:p>
        </p:txBody>
      </p:sp>
      <p:sp>
        <p:nvSpPr>
          <p:cNvPr id="22" name="Text 20"/>
          <p:cNvSpPr/>
          <p:nvPr/>
        </p:nvSpPr>
        <p:spPr>
          <a:xfrm>
            <a:off x="7223760" y="44348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Impact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51206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A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integration into healthcare, education, science, and manufacturing.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Considerations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AI well means weighing its limits, not just its power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54480" y="2468880"/>
            <a:ext cx="594360" cy="5943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2468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1560" dirty="0"/>
          </a:p>
        </p:txBody>
      </p:sp>
      <p:sp>
        <p:nvSpPr>
          <p:cNvPr id="7" name="Text 5"/>
          <p:cNvSpPr/>
          <p:nvPr/>
        </p:nvSpPr>
        <p:spPr>
          <a:xfrm>
            <a:off x="731520" y="32461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Ethics &amp; Fairness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in training data can produce unfair or skewed outcomes.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214884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16552" y="2468880"/>
            <a:ext cx="594360" cy="594360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11" name="Text 9"/>
          <p:cNvSpPr/>
          <p:nvPr/>
        </p:nvSpPr>
        <p:spPr>
          <a:xfrm>
            <a:off x="4416552" y="2468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endParaRPr lang="en-US" sz="1560" dirty="0"/>
          </a:p>
        </p:txBody>
      </p:sp>
      <p:sp>
        <p:nvSpPr>
          <p:cNvPr id="12" name="Text 10"/>
          <p:cNvSpPr/>
          <p:nvPr/>
        </p:nvSpPr>
        <p:spPr>
          <a:xfrm>
            <a:off x="3593592" y="32461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Jobs &amp; Workforce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593592" y="39319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shifts some roles and creates demand for new skills.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72784" y="214884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78624" y="2468880"/>
            <a:ext cx="594360" cy="5943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7278624" y="2468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60" dirty="0"/>
          </a:p>
        </p:txBody>
      </p:sp>
      <p:sp>
        <p:nvSpPr>
          <p:cNvPr id="17" name="Text 15"/>
          <p:cNvSpPr/>
          <p:nvPr/>
        </p:nvSpPr>
        <p:spPr>
          <a:xfrm>
            <a:off x="6455664" y="32461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&amp; Bias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55664" y="39319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can sound confident while being factually wrong.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34856" y="214884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140696" y="2468880"/>
            <a:ext cx="594360" cy="594360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0696" y="2468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9317736" y="32461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Responsible Use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317736" y="39319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and clear policies matter as AI takes on more tasks.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5394960"/>
            <a:ext cx="1005840" cy="365760"/>
          </a:xfrm>
          <a:prstGeom prst="line">
            <a:avLst/>
          </a:prstGeom>
          <a:noFill/>
          <a:ln w="15875">
            <a:solidFill>
              <a:srgbClr val="3A4A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920240" y="5760720"/>
            <a:ext cx="-457200" cy="457200"/>
          </a:xfrm>
          <a:prstGeom prst="line">
            <a:avLst/>
          </a:prstGeom>
          <a:noFill/>
          <a:ln w="15875">
            <a:solidFill>
              <a:srgbClr val="3A4A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20240" y="5760720"/>
            <a:ext cx="548640" cy="365760"/>
          </a:xfrm>
          <a:prstGeom prst="line">
            <a:avLst/>
          </a:prstGeom>
          <a:noFill/>
          <a:ln w="15875">
            <a:solidFill>
              <a:srgbClr val="3A4A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5340096"/>
            <a:ext cx="109728" cy="109728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6" name="Shape 4"/>
          <p:cNvSpPr/>
          <p:nvPr/>
        </p:nvSpPr>
        <p:spPr>
          <a:xfrm>
            <a:off x="1865376" y="5705856"/>
            <a:ext cx="109728" cy="10972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1408176" y="6163056"/>
            <a:ext cx="109728" cy="109728"/>
          </a:xfrm>
          <a:prstGeom prst="ellipse">
            <a:avLst/>
          </a:prstGeom>
          <a:solidFill>
            <a:srgbClr val="4C7FEA"/>
          </a:solidFill>
          <a:ln/>
        </p:spPr>
      </p:sp>
      <p:sp>
        <p:nvSpPr>
          <p:cNvPr id="8" name="Shape 6"/>
          <p:cNvSpPr/>
          <p:nvPr/>
        </p:nvSpPr>
        <p:spPr>
          <a:xfrm>
            <a:off x="2414016" y="6071616"/>
            <a:ext cx="109728" cy="10972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11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4C7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isn't magic — it's pattern recognition at scale, and it's becoming an everyday tool, not just a technology.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40080" y="4572000"/>
            <a:ext cx="1280160" cy="0"/>
          </a:xfrm>
          <a:prstGeom prst="line">
            <a:avLst/>
          </a:prstGeom>
          <a:noFill/>
          <a:ln w="38100">
            <a:solidFill>
              <a:srgbClr val="4C7F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A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2026-09-24T07:48:30Z</dcterms:created>
  <dcterms:modified xsi:type="dcterms:W3CDTF">2026-09-24T07:48:30Z</dcterms:modified>
</cp:coreProperties>
</file>