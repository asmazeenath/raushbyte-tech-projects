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5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1" autoAdjust="0"/>
    <p:restoredTop sz="93800" autoAdjust="0"/>
  </p:normalViewPr>
  <p:slideViewPr>
    <p:cSldViewPr snapToGrid="0" snapToObjects="1">
      <p:cViewPr>
        <p:scale>
          <a:sx n="74" d="100"/>
          <a:sy n="74" d="100"/>
        </p:scale>
        <p:origin x="282" y="-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06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39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90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05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640080"/>
            <a:ext cx="1188720" cy="411480"/>
          </a:xfrm>
          <a:prstGeom prst="line">
            <a:avLst/>
          </a:prstGeom>
          <a:noFill/>
          <a:ln w="15875">
            <a:solidFill>
              <a:srgbClr val="3A4A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1051560"/>
            <a:ext cx="0" cy="548640"/>
          </a:xfrm>
          <a:prstGeom prst="line">
            <a:avLst/>
          </a:prstGeom>
          <a:noFill/>
          <a:ln w="15875">
            <a:solidFill>
              <a:srgbClr val="3A4A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1051560"/>
            <a:ext cx="548640" cy="868680"/>
          </a:xfrm>
          <a:prstGeom prst="line">
            <a:avLst/>
          </a:prstGeom>
          <a:noFill/>
          <a:ln w="15875">
            <a:solidFill>
              <a:srgbClr val="3A4A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640080"/>
            <a:ext cx="548640" cy="960120"/>
          </a:xfrm>
          <a:prstGeom prst="line">
            <a:avLst/>
          </a:prstGeom>
          <a:noFill/>
          <a:ln w="15875">
            <a:solidFill>
              <a:srgbClr val="3A4A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1600200"/>
            <a:ext cx="1188720" cy="320040"/>
          </a:xfrm>
          <a:prstGeom prst="line">
            <a:avLst/>
          </a:prstGeom>
          <a:noFill/>
          <a:ln w="15875">
            <a:solidFill>
              <a:srgbClr val="3A4A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640080"/>
            <a:ext cx="640080" cy="0"/>
          </a:xfrm>
          <a:prstGeom prst="line">
            <a:avLst/>
          </a:prstGeom>
          <a:noFill/>
          <a:ln w="15875">
            <a:solidFill>
              <a:srgbClr val="3A4A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502920"/>
            <a:ext cx="548640" cy="548640"/>
          </a:xfrm>
          <a:prstGeom prst="line">
            <a:avLst/>
          </a:prstGeom>
          <a:noFill/>
          <a:ln w="15875">
            <a:solidFill>
              <a:srgbClr val="3A4A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63456" y="585216"/>
            <a:ext cx="109728" cy="109728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10" name="Shape 8"/>
          <p:cNvSpPr/>
          <p:nvPr/>
        </p:nvSpPr>
        <p:spPr>
          <a:xfrm>
            <a:off x="10552176" y="996696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Shape 9"/>
          <p:cNvSpPr/>
          <p:nvPr/>
        </p:nvSpPr>
        <p:spPr>
          <a:xfrm>
            <a:off x="9912096" y="1545336"/>
            <a:ext cx="109728" cy="109728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00816" y="1865376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3536" y="448056"/>
            <a:ext cx="109728" cy="109728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4C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AI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Tools &amp; Future Scope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1280160" cy="0"/>
          </a:xfrm>
          <a:prstGeom prst="line">
            <a:avLst/>
          </a:prstGeom>
          <a:noFill/>
          <a:ln w="38100">
            <a:solidFill>
              <a:srgbClr val="4C7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800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for beginners and builders alike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AI?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is software that learns patterns from data and makes decisions or predictions on its own — instead of following only rules a programmer wrote in advance.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4805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4C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AI systems improve with experience, not just instructions.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37160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7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600200"/>
            <a:ext cx="594360" cy="59436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7360920" y="1572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Software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60920" y="19659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fixed, hand-written rules. Same input always gives the same output.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356616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141B2D"/>
          </a:solidFill>
          <a:ln/>
          <a:effectLst>
            <a:outerShdw blurRad="76200" dist="25400" dir="5400000" algn="bl" rotWithShape="0">
              <a:srgbClr val="9AA7C7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3794760"/>
            <a:ext cx="594360" cy="59436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7360920" y="37673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Software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60920" y="41605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examples and adapts its output as new data arrives.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behind most modern AI systems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find patterns in data and improve at a task with experience.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2402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7223760" y="2194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8803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of ML using many-layered networks to handle complex data like images and speech.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NN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1554480" y="4434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of connected "neurons" loosely inspired by the brain, used to learn patterns.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480560"/>
            <a:ext cx="548640" cy="54864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7223760" y="4434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51206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that let machines read, understand, and generate human language.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Learns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view of the training-to-use pipeline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63828" y="2377440"/>
            <a:ext cx="822960" cy="82296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5" name="Text 3"/>
          <p:cNvSpPr/>
          <p:nvPr/>
        </p:nvSpPr>
        <p:spPr>
          <a:xfrm>
            <a:off x="1363828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60" dirty="0"/>
          </a:p>
        </p:txBody>
      </p:sp>
      <p:sp>
        <p:nvSpPr>
          <p:cNvPr id="6" name="Text 4"/>
          <p:cNvSpPr/>
          <p:nvPr/>
        </p:nvSpPr>
        <p:spPr>
          <a:xfrm>
            <a:off x="586588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6588" y="3749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sets of examples are collected and cleaned — text, images, numbers.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8892" y="2788920"/>
            <a:ext cx="393192" cy="0"/>
          </a:xfrm>
          <a:prstGeom prst="line">
            <a:avLst/>
          </a:prstGeom>
          <a:noFill/>
          <a:ln w="25400">
            <a:solidFill>
              <a:srgbClr val="B9C4D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44188" y="237744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244188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3466948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66948" y="3749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repeatedly adjusts itself to reduce errors on that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9252" y="2788920"/>
            <a:ext cx="393192" cy="0"/>
          </a:xfrm>
          <a:prstGeom prst="line">
            <a:avLst/>
          </a:prstGeom>
          <a:noFill/>
          <a:ln w="25400">
            <a:solidFill>
              <a:srgbClr val="B9C4D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24548" y="2377440"/>
            <a:ext cx="822960" cy="82296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15" name="Text 13"/>
          <p:cNvSpPr/>
          <p:nvPr/>
        </p:nvSpPr>
        <p:spPr>
          <a:xfrm>
            <a:off x="7124548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60" dirty="0"/>
          </a:p>
        </p:txBody>
      </p:sp>
      <p:sp>
        <p:nvSpPr>
          <p:cNvPr id="16" name="Text 14"/>
          <p:cNvSpPr/>
          <p:nvPr/>
        </p:nvSpPr>
        <p:spPr>
          <a:xfrm>
            <a:off x="6347308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47308" y="3749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stores learned patterns as numerical weights.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9612" y="2788920"/>
            <a:ext cx="393192" cy="0"/>
          </a:xfrm>
          <a:prstGeom prst="line">
            <a:avLst/>
          </a:prstGeom>
          <a:noFill/>
          <a:ln w="25400">
            <a:solidFill>
              <a:srgbClr val="B9C4D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04908" y="237744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04908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60" dirty="0"/>
          </a:p>
        </p:txBody>
      </p:sp>
      <p:sp>
        <p:nvSpPr>
          <p:cNvPr id="21" name="Text 19"/>
          <p:cNvSpPr/>
          <p:nvPr/>
        </p:nvSpPr>
        <p:spPr>
          <a:xfrm>
            <a:off x="9227668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27668" y="3749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applies what it learned to new, unseen input in real time.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AI Tools Today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widely-used tools across categories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 &amp; Assistants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 — conversational help with writing, research, and Q&amp;A.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2402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IMG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7223760" y="2194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Generation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8803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Midjourney, DALL-E, Stable Diffusion — turning text prompts into original artwork.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1554480" y="4434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Assistants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Claude Code — suggesting, writing, and debugging code in real time.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480560"/>
            <a:ext cx="548640" cy="54864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7223760" y="4434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Tools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51206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notes, spreadsheets, and scheduling that summarize and automate busywork.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Everyday Life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already use AI daily, often without noticing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234440" y="1938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286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and understanding results beyond exact keyword matches.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234440" y="2990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337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shows, songs, and products based on your behavior.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234440" y="4041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Assistants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389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speech into action for reminders, calls, and searches.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234440" y="5093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spam, flagging fraud, and routing support tickets.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12480" y="2651760"/>
            <a:ext cx="2194560" cy="2194560"/>
          </a:xfrm>
          <a:prstGeom prst="ellipse">
            <a:avLst/>
          </a:prstGeom>
          <a:ln w="25400">
            <a:solidFill>
              <a:srgbClr val="4C7F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32520" y="2971800"/>
            <a:ext cx="1554480" cy="1554480"/>
          </a:xfrm>
          <a:prstGeom prst="ellipse">
            <a:avLst/>
          </a:prstGeom>
          <a:ln w="254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3291840"/>
            <a:ext cx="914400" cy="914400"/>
          </a:xfrm>
          <a:prstGeom prst="ellipse">
            <a:avLst/>
          </a:prstGeom>
          <a:ln w="25400">
            <a:solidFill>
              <a:srgbClr val="4C7F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3429000"/>
            <a:ext cx="640080" cy="640080"/>
          </a:xfrm>
          <a:prstGeom prst="ellipse">
            <a:avLst/>
          </a:prstGeom>
          <a:solidFill>
            <a:srgbClr val="141B2D"/>
          </a:solidFill>
          <a:ln/>
        </p:spPr>
      </p:sp>
      <p:sp>
        <p:nvSpPr>
          <p:cNvPr id="24" name="Text 22"/>
          <p:cNvSpPr/>
          <p:nvPr/>
        </p:nvSpPr>
        <p:spPr>
          <a:xfrm>
            <a:off x="918972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is headed over the next few years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F2A4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Agents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plans multi-step tasks and uses tools on its own, not just answers questions.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F2A44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2402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7223760" y="2194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8803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systems that fluently combine text, images, audio, and video.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F2A44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1554480" y="4434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that adapt to individual habits, memory, and preferences over time.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F2A4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480560"/>
            <a:ext cx="548640" cy="54864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7223760" y="4434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Impact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51206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integration into healthcare, education, science, and manufacturing.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1B2333"/>
                </a:solidFill>
                <a:latin typeface="Cambria" pitchFamily="34" charset="0"/>
                <a:ea typeface="Cambria" pitchFamily="34" charset="-122"/>
              </a:rPr>
              <a:t>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well means weighing its limits, not just its power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training data can produce unfair or skewed outcomes.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29976" y="6676789"/>
            <a:ext cx="2489600" cy="1879602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2468880"/>
            <a:ext cx="594360" cy="59436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3593592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&amp; Workforce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93592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shifts some roles and creates demand for new skills.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78624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6455664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55664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sound confident while being factually wrong.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40696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9317736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17736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and clear policies matter as AI takes on more tasks.</a:t>
            </a:r>
            <a:endParaRPr lang="en-US" sz="1200" dirty="0"/>
          </a:p>
        </p:txBody>
      </p:sp>
      <p:pic>
        <p:nvPicPr>
          <p:cNvPr id="1026" name="Picture 2" descr="AI Workflow Management: 5 Savvy Steps Zoho CRM Boosts Growth – Boosted CR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5" y="1276577"/>
            <a:ext cx="11869534" cy="503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69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1B2333"/>
                </a:solidFill>
                <a:latin typeface="Cambria" pitchFamily="34" charset="0"/>
                <a:ea typeface="Cambria" pitchFamily="34" charset="-122"/>
              </a:rPr>
              <a:t>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well means weighing its limits, not just its power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training data can produce unfair or skewed outcomes.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5709" y="4242682"/>
            <a:ext cx="2489600" cy="1879602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2468880"/>
            <a:ext cx="594360" cy="59436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3593592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&amp; Workforce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93592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shifts some roles and creates demand for new skills.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78624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6455664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55664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sound confident while being factually wrong.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40696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9317736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17736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and clear policies matter as AI takes on more tasks.</a:t>
            </a:r>
            <a:endParaRPr lang="en-US" sz="1200" dirty="0"/>
          </a:p>
        </p:txBody>
      </p:sp>
      <p:pic>
        <p:nvPicPr>
          <p:cNvPr id="1026" name="Picture 2" descr="AI Workflow Management: 5 Savvy Steps Zoho CRM Boosts Growth – Boosted CR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5" y="1276577"/>
            <a:ext cx="11869534" cy="503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AI Agents vs AI Workflows: The Confusion Everyone Has | by Rohan Mistry |  Towards A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" y="1276577"/>
            <a:ext cx="11839655" cy="5004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57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Considerations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well means weighing its limits, not just its power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46888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&amp; Fairness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training data can produce unfair or skewed outcomes.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2468880"/>
            <a:ext cx="594360" cy="59436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3593592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&amp; Workforce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93592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shifts some roles and creates demand for new skills.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78624" y="246888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278624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6455664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&amp; Bias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55664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sound confident while being factually wrong.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34856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40696" y="2468880"/>
            <a:ext cx="594360" cy="594360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0696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9317736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Use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17736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and clear policies matter as AI takes on more tasks.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230" y="515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smtClean="0">
                <a:solidFill>
                  <a:srgbClr val="1B2333"/>
                </a:solidFill>
                <a:latin typeface="Cambria" pitchFamily="34" charset="0"/>
                <a:ea typeface="Cambria" pitchFamily="34" charset="-122"/>
              </a:rPr>
              <a:t>conclusion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>
              <a:solidFill>
                <a:srgbClr val="5B6472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230" y="51206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4C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AI systems improve with experience, not just instructions.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7360920" y="1572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80882" y="1344168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7360920" y="37673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Software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60920" y="41605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15" name="Rectangle 14"/>
          <p:cNvSpPr/>
          <p:nvPr/>
        </p:nvSpPr>
        <p:spPr>
          <a:xfrm>
            <a:off x="475230" y="1475720"/>
            <a:ext cx="1090905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Artificial </a:t>
            </a:r>
            <a:r>
              <a:rPr lang="en-US" sz="2400" dirty="0"/>
              <a:t>Intelligence has evolved from rule-based systems into powerful technologies capable of learning from data, understanding language, interpreting images, generating content, and supporting complex workflows.</a:t>
            </a:r>
          </a:p>
          <a:p>
            <a:r>
              <a:rPr lang="en-US" sz="2400" dirty="0"/>
              <a:t>AI is already being used in healthcare, education, business, environmental monitoring, entertainment, transportation, and everyday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future of AI will depend not only on increasing technical capabilities but also on responsible development, reliable data, privacy, security, transparency, and meaningful human oversight.</a:t>
            </a:r>
          </a:p>
        </p:txBody>
      </p:sp>
    </p:spTree>
    <p:extLst>
      <p:ext uri="{BB962C8B-B14F-4D97-AF65-F5344CB8AC3E}">
        <p14:creationId xmlns:p14="http://schemas.microsoft.com/office/powerpoint/2010/main" val="188134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394960"/>
            <a:ext cx="1005840" cy="365760"/>
          </a:xfrm>
          <a:prstGeom prst="line">
            <a:avLst/>
          </a:prstGeom>
          <a:noFill/>
          <a:ln w="15875">
            <a:solidFill>
              <a:srgbClr val="3A4A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5760720"/>
            <a:ext cx="0" cy="457200"/>
          </a:xfrm>
          <a:prstGeom prst="line">
            <a:avLst/>
          </a:prstGeom>
          <a:noFill/>
          <a:ln w="15875">
            <a:solidFill>
              <a:srgbClr val="3A4A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5760720"/>
            <a:ext cx="548640" cy="365760"/>
          </a:xfrm>
          <a:prstGeom prst="line">
            <a:avLst/>
          </a:prstGeom>
          <a:noFill/>
          <a:ln w="15875">
            <a:solidFill>
              <a:srgbClr val="3A4A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5340096"/>
            <a:ext cx="109728" cy="109728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6" name="Shape 4"/>
          <p:cNvSpPr/>
          <p:nvPr/>
        </p:nvSpPr>
        <p:spPr>
          <a:xfrm>
            <a:off x="1865376" y="5705856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408176" y="6163056"/>
            <a:ext cx="109728" cy="109728"/>
          </a:xfrm>
          <a:prstGeom prst="ellipse">
            <a:avLst/>
          </a:prstGeom>
          <a:solidFill>
            <a:srgbClr val="4C7FEA"/>
          </a:solidFill>
          <a:ln/>
        </p:spPr>
      </p:sp>
      <p:sp>
        <p:nvSpPr>
          <p:cNvPr id="8" name="Shape 6"/>
          <p:cNvSpPr/>
          <p:nvPr/>
        </p:nvSpPr>
        <p:spPr>
          <a:xfrm>
            <a:off x="2414016" y="6071616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4C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isn't magic — it's pattern recognition at scale, and it's becoming an everyday tool, not just a technology.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1280160" cy="0"/>
          </a:xfrm>
          <a:prstGeom prst="line">
            <a:avLst/>
          </a:prstGeom>
          <a:noFill/>
          <a:ln w="38100">
            <a:solidFill>
              <a:srgbClr val="4C7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754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822</Words>
  <Application>Microsoft Office PowerPoint</Application>
  <PresentationFormat>Widescreen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 XPS</cp:lastModifiedBy>
  <cp:revision>6</cp:revision>
  <dcterms:created xsi:type="dcterms:W3CDTF">2026-09-24T07:48:30Z</dcterms:created>
  <dcterms:modified xsi:type="dcterms:W3CDTF">2026-09-29T04:23:39Z</dcterms:modified>
</cp:coreProperties>
</file>